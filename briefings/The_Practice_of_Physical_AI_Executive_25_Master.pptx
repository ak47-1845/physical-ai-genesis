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9728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3B82F6"/>
                </a:solidFill>
                <a:latin typeface="Segoe UI"/>
              </a:rPr>
              <a:t>STRATEGIC BRIEFING  |  EXECUTIVE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5F6F8"/>
                </a:solidFill>
                <a:latin typeface="Segoe UI"/>
              </a:rPr>
              <a:t>The Practice of Physical Artificial Intelligence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94A3B8"/>
                </a:solidFill>
                <a:latin typeface="Segoe UI"/>
              </a:rPr>
              <a:t>Commercial Landscape, Kinematics Moats, and the Industrial Engineering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02336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519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PREPARED FOR:</a:t>
            </a:r>
          </a:p>
          <a:p>
            <a:pPr>
              <a:spcBef>
                <a:spcPts val="600"/>
              </a:spcBef>
            </a:pPr>
            <a:r>
              <a:rPr sz="1900" b="1" i="0">
                <a:solidFill>
                  <a:srgbClr val="F5F6F8"/>
                </a:solidFill>
                <a:latin typeface="Segoe UI"/>
              </a:rPr>
              <a:t>Dr. Madhusudhan Singh</a:t>
            </a:r>
          </a:p>
          <a:p>
            <a:r>
              <a:rPr sz="1500" b="0" i="0">
                <a:solidFill>
                  <a:srgbClr val="94A3B8"/>
                </a:solidFill>
                <a:latin typeface="Segoe UI"/>
              </a:rPr>
              <a:t>Global AI Head | L&amp;T Technology Services (LTTS)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402336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42519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AUTHORSHIP &amp; AUDIT STANDARD:</a:t>
            </a:r>
          </a:p>
          <a:p>
            <a:pPr>
              <a:spcBef>
                <a:spcPts val="600"/>
              </a:spcBef>
            </a:pPr>
            <a:r>
              <a:rPr sz="1900" b="1" i="0">
                <a:solidFill>
                  <a:srgbClr val="F5F6F8"/>
                </a:solidFill>
                <a:latin typeface="Segoe UI"/>
              </a:rPr>
              <a:t>Genuity IO  |  Adari Karthikeya</a:t>
            </a:r>
          </a:p>
          <a:p>
            <a:r>
              <a:rPr sz="1500" b="0" i="0">
                <a:solidFill>
                  <a:srgbClr val="94A3B8"/>
                </a:solidFill>
                <a:latin typeface="Segoe UI"/>
              </a:rPr>
              <a:t>100% Audited Commercial Data | September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STRATEGIC THESIS: </a:t>
            </a:r>
            <a:r>
              <a:rPr sz="1400">
                <a:solidFill>
                  <a:srgbClr val="F5F6F8"/>
                </a:solidFill>
                <a:latin typeface="Segoe UI"/>
              </a:rPr>
              <a:t>Physical AI shifts enterprise value from speculative hardware to certified systems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01 — EXECUTIVE TITLE &amp; BRIEFING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STRATEGIC CONTEXT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Core Strategic Thesis: The Systems Integration Moat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63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3B82F6"/>
                </a:solidFill>
                <a:latin typeface="Segoe UI"/>
              </a:rPr>
              <a:t>THE CAUSAL SHIFT</a:t>
            </a:r>
          </a:p>
          <a:p>
            <a:pPr>
              <a:spcBef>
                <a:spcPts val="800"/>
              </a:spcBef>
            </a:pPr>
            <a:r>
              <a:rPr sz="2000" b="1" i="0">
                <a:solidFill>
                  <a:srgbClr val="F5F6F8"/>
                </a:solidFill>
                <a:latin typeface="Segoe UI"/>
              </a:rPr>
              <a:t>Beyond Token Prediction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Physical AI transitions from text associations P(Y|X) to closed-loop physical interventions P(Y|do(u)).
Governed by continuous dynamics, momentum, and friction constraints where mistakes are physically irreversible.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5170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63770" y="1600200"/>
            <a:ext cx="3063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3B82F6"/>
                </a:solidFill>
                <a:latin typeface="Segoe UI"/>
              </a:rPr>
              <a:t>THE CAPITAL ASYMMETRY</a:t>
            </a:r>
          </a:p>
          <a:p>
            <a:pPr>
              <a:spcBef>
                <a:spcPts val="800"/>
              </a:spcBef>
            </a:pPr>
            <a:r>
              <a:rPr sz="2000" b="1" i="0">
                <a:solidFill>
                  <a:srgbClr val="F5F6F8"/>
                </a:solidFill>
                <a:latin typeface="Segoe UI"/>
              </a:rPr>
              <a:t>$4.5B Inflow vs &lt;$15M Rev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Over $4.5B has poured into humanoid OEMs, yet global production revenue remains under $15M.
Conversely, simulation software and verification tooling generate hundreds of millions at 75%-85% gross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2615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51215" y="1600200"/>
            <a:ext cx="3063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3B82F6"/>
                </a:solidFill>
                <a:latin typeface="Segoe UI"/>
              </a:rPr>
              <a:t>THE LTTS PLAYBOOK</a:t>
            </a:r>
          </a:p>
          <a:p>
            <a:pPr>
              <a:spcBef>
                <a:spcPts val="800"/>
              </a:spcBef>
            </a:pPr>
            <a:r>
              <a:rPr sz="2000" b="1" i="0">
                <a:solidFill>
                  <a:srgbClr val="F5F6F8"/>
                </a:solidFill>
                <a:latin typeface="Segoe UI"/>
              </a:rPr>
              <a:t>Certified Integration Engine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Do not manufacture hardware or train 50B models from scratch.
Position LTTS as the indispensable systems integrator, V&amp;V certifier, and synthetic data foundry bridging frontier AI with brownfield factories.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VERDICT: </a:t>
            </a:r>
            <a:r>
              <a:rPr sz="1400">
                <a:solidFill>
                  <a:srgbClr val="F5F6F8"/>
                </a:solidFill>
                <a:latin typeface="Segoe UI"/>
              </a:rPr>
              <a:t>Venture capital subsidizes hardware R&amp;D; certified systems integrators capture enterprise cash 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02 — CORE STRATEGIC 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STRATEGIC OVERVIEW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Executive Summary: Four Structural Realities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63440" y="15087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886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01  |  Commercial Reality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Driving world models and optical QA deliver verified ROI today. Unconstrained humanoids remain bounded pilots with MTBF &lt; 40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32588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08615" y="15087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8135" y="1508760"/>
            <a:ext cx="3886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02  |  Algorithmic Frontier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Flow matching (pi-0) and 3D spatial world models are replacing discrete tokenizers, enabling smooth 50Hz continuous trajectory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374904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3886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03  |  The Brownfield Moat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Frontier AI labs lack industrial plant presence. Incumbent fieldbuses (Profinet, EtherCAT) and ISO safety standards form an unbreakable moat.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3815" y="356616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08615" y="374904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[Estimated]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8135" y="3749040"/>
            <a:ext cx="3886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04  |  The $11.5B Market TAM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Robotic hardware commoditizes by 60% by 2028. Total addressable market for industrial Physical AI integration surges to $11.5B by 2029.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KEY DIRECTIVE: </a:t>
            </a:r>
            <a:r>
              <a:rPr sz="1400">
                <a:solidFill>
                  <a:srgbClr val="F5F6F8"/>
                </a:solidFill>
                <a:latin typeface="Segoe UI"/>
              </a:rPr>
              <a:t>Capturing high-margin ER&amp;D contracts requires leading in formal verification and synthetic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03 — 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3B82F6"/>
                </a:solidFill>
                <a:latin typeface="Segoe UI"/>
              </a:rP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5F6F8"/>
                </a:solidFill>
                <a:latin typeface="Segoe UI"/>
              </a:rPr>
              <a:t>Commercial State Mapping</a:t>
            </a:r>
          </a:p>
          <a:p>
            <a:pPr>
              <a:spcBef>
                <a:spcPts val="1600"/>
              </a:spcBef>
            </a:pPr>
            <a:r>
              <a:rPr sz="2000" b="0" i="0">
                <a:solidFill>
                  <a:srgbClr val="94A3B8"/>
                </a:solidFill>
                <a:latin typeface="Segoe UI"/>
              </a:rPr>
              <a:t>Production Reality, Capital Distribution, and Commercial Asymmetry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FRAMEWORK: </a:t>
            </a:r>
            <a:r>
              <a:rPr sz="1400">
                <a:solidFill>
                  <a:srgbClr val="F5F6F8"/>
                </a:solidFill>
                <a:latin typeface="Segoe UI"/>
              </a:rPr>
              <a:t>Separating audited production deployments from venture-backed laboratory 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04 — COMMERCIAL STATE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COMMERCIAL STATE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Physical AI Commercial Maturity Tiers (2026)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094415" cy="1325880"/>
          </a:xfrm>
          <a:prstGeom prst="roundRect">
            <a:avLst>
              <a:gd name="adj" fmla="val 8000"/>
            </a:avLst>
          </a:prstGeom>
          <a:solidFill>
            <a:srgbClr val="1D3A6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62895" y="15087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35608"/>
            <a:ext cx="9448495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TIER 1: PRODUCTION AT SCALE (Verified Commercial ROI)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94A3B8"/>
                </a:solidFill>
                <a:latin typeface="Segoe UI"/>
              </a:rPr>
              <a:t>Tesla FSD (&gt;2.5B mi), Waymo (&gt;150k trips/wk) • TSMC Fab 18 EUV defect QA (yield +2.1x) • Applied Intuition &amp; NVIDIA Isaac Sim testing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52928"/>
            <a:ext cx="11094415" cy="13258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905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62895" y="30358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[Reported]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62656"/>
            <a:ext cx="9448495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TIER 2: ACTIVE PILOTS (Bounded Environments &amp; Logistics)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94A3B8"/>
                </a:solidFill>
                <a:latin typeface="Segoe UI"/>
              </a:rPr>
              <a:t>Figure 02 at BMW Spartanburg (chassis handling) • Apptronik Apollo at Mercedes-Benz • Boston Dynamics Stretch at DHL (trailer unloading).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79976"/>
            <a:ext cx="11094415" cy="13258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905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62895" y="4562856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[Speculative]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9704"/>
            <a:ext cx="9448495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TIER 3: LAB DEMONSTRATION &amp; HYPE (TRL 3-4, Low MTBF)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94A3B8"/>
                </a:solidFill>
                <a:latin typeface="Segoe UI"/>
              </a:rPr>
              <a:t>Unstructured household manipulation (folding laundry, cooking) • Zero-shot micro-assembly without physical fine-tuning (MTBF &lt; 40 hours).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EVALUATION: </a:t>
            </a:r>
            <a:r>
              <a:rPr sz="1400">
                <a:solidFill>
                  <a:srgbClr val="F5F6F8"/>
                </a:solidFill>
                <a:latin typeface="Segoe UI"/>
              </a:rPr>
              <a:t>Only structured logistics and optical inspection generate audited production cash flows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05 — COMMERCIAL MATURITY TIERS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CAPITAL DEPLOYMENT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Disclosed Capital Allocation Across Physical AI (Last 18 Mo.)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960120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CAPITAL OBSERVATION: </a:t>
            </a:r>
            <a:r>
              <a:rPr sz="1400">
                <a:solidFill>
                  <a:srgbClr val="F5F6F8"/>
                </a:solidFill>
                <a:latin typeface="Segoe UI"/>
              </a:rPr>
              <a:t>Massive capital fuels humanoid pilots, while high-margin software platforms capture enterprise ARR.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06 — CAPITAL DEPLOYMENT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ECONOMIC REALITY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The Capital vs. Commercial Maturity Asymmetry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3B82F6"/>
                </a:solidFill>
                <a:latin typeface="Segoe UI"/>
              </a:rPr>
              <a:t>$2.45B+</a:t>
            </a:r>
          </a:p>
          <a:p>
            <a:pPr algn="ctr">
              <a:spcBef>
                <a:spcPts val="400"/>
              </a:spcBef>
            </a:pPr>
            <a:r>
              <a:rPr sz="1400" b="1" i="0">
                <a:solidFill>
                  <a:srgbClr val="F5F6F8"/>
                </a:solidFill>
                <a:latin typeface="Segoe UI"/>
              </a:rPr>
              <a:t>HUMANOID CAPITAL INFLOW</a:t>
            </a:r>
          </a:p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18-month venture equity funding [Verified]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5170" y="13258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18050" y="1463040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EF4444"/>
                </a:solidFill>
                <a:latin typeface="Segoe UI"/>
              </a:rPr>
              <a:t>&lt; $15M</a:t>
            </a:r>
          </a:p>
          <a:p>
            <a:pPr algn="ctr">
              <a:spcBef>
                <a:spcPts val="400"/>
              </a:spcBef>
            </a:pPr>
            <a:r>
              <a:rPr sz="1400" b="1" i="0">
                <a:solidFill>
                  <a:srgbClr val="F5F6F8"/>
                </a:solidFill>
                <a:latin typeface="Segoe UI"/>
              </a:rPr>
              <a:t>HUMANOID PRODUCTION REVENUE</a:t>
            </a:r>
          </a:p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Global aggregate enterprise revenue [Estimated]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1700" y="13258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4580" y="1463040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22C55E"/>
                </a:solidFill>
                <a:latin typeface="Segoe UI"/>
              </a:rPr>
              <a:t>$11.5B</a:t>
            </a:r>
          </a:p>
          <a:p>
            <a:pPr algn="ctr">
              <a:spcBef>
                <a:spcPts val="400"/>
              </a:spcBef>
            </a:pPr>
            <a:r>
              <a:rPr sz="1400" b="1" i="0">
                <a:solidFill>
                  <a:srgbClr val="F5F6F8"/>
                </a:solidFill>
                <a:latin typeface="Segoe UI"/>
              </a:rPr>
              <a:t>PROJECTED SERVICES TAM</a:t>
            </a:r>
          </a:p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2029 systems integration market size [Estimated]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40"/>
            <a:ext cx="11094415" cy="22402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85032"/>
            <a:ext cx="10545775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The Capital-Heavy Hardware Trap vs. The Capital-Light Software Engine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Hardware OEMs bear severe warranty liabilities, low MTBF (&lt;40 hours), and high re-tooling costs.
• Simulation and testing platforms scale with 75%-85% margins (Applied Intuition at $6B valuation).
• LTTS Strategy: Monetize deployment, calibration, and certification without hardware capital drag.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BOTTOM LINE: </a:t>
            </a:r>
            <a:r>
              <a:rPr sz="1400">
                <a:solidFill>
                  <a:srgbClr val="F5F6F8"/>
                </a:solidFill>
                <a:latin typeface="Segoe UI"/>
              </a:rPr>
              <a:t>Do not build robot hardware. Build the certified testing, calibration, and integration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07 — CAPITAL VS. MATURITY ASYMMETRY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3B82F6"/>
                </a:solidFill>
                <a:latin typeface="Segoe UI"/>
              </a:rP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5F6F8"/>
                </a:solidFill>
                <a:latin typeface="Segoe UI"/>
              </a:rPr>
              <a:t>Research Direction</a:t>
            </a:r>
          </a:p>
          <a:p>
            <a:pPr>
              <a:spcBef>
                <a:spcPts val="1600"/>
              </a:spcBef>
            </a:pPr>
            <a:r>
              <a:rPr sz="2000" b="0" i="0">
                <a:solidFill>
                  <a:srgbClr val="94A3B8"/>
                </a:solidFill>
                <a:latin typeface="Segoe UI"/>
              </a:rPr>
              <a:t>Frontier Algorithmic Clusters, World Models, and Causal Mechanics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PARADIGM SHIFT: </a:t>
            </a:r>
            <a:r>
              <a:rPr sz="1400">
                <a:solidFill>
                  <a:srgbClr val="F5F6F8"/>
                </a:solidFill>
                <a:latin typeface="Segoe UI"/>
              </a:rPr>
              <a:t>Replacing discrete tokenizers with continuous flow fields and 3D spatial latents.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08 — RESEARCH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RESEARCH FRONTIER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Five Technical Priorities at the Research Frontier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49470" y="292608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1D3A6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3235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F6F8"/>
                </a:solidFill>
                <a:latin typeface="Segoe UI"/>
              </a:rPr>
              <a:t>PHYSICAL AI
FRONTIER PRIORITIES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5087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320040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1. Flow Matching Policies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94A3B8"/>
                </a:solidFill>
                <a:latin typeface="Segoe UI"/>
              </a:rPr>
              <a:t>pi-0 / ManiFlow generating continuous 50Hz control trajectories, eliminating token chatter.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6895" y="1371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54335" y="15087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775" y="1481328"/>
            <a:ext cx="320040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2. 3D Spatial World Models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94A3B8"/>
                </a:solidFill>
                <a:latin typeface="Segoe UI"/>
              </a:rPr>
              <a:t>PointWorld &amp; Cosmos-Predict encoding explicit 3D point-flows for real-time MPC under 100ms.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37033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75888"/>
            <a:ext cx="320040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3. Stage-Aware RFT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94A3B8"/>
                </a:solidFill>
                <a:latin typeface="Segoe UI"/>
              </a:rPr>
              <a:t>STA-PPO decomposing trajectories into micro-stages; achieved 98% SIMPLER success 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6895" y="356616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54335" y="37033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9775" y="3675888"/>
            <a:ext cx="320040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4. Egocentric Scaling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94A3B8"/>
                </a:solidFill>
                <a:latin typeface="Segoe UI"/>
              </a:rPr>
              <a:t>EgoScale proving log-linear performance transfer from 40k+ hours of human demonstration video.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2310" y="44805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89750" y="46177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E"/>
                </a:solidFill>
                <a:latin typeface="Segoe UI"/>
              </a:rPr>
              <a:t>[Verified]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190" y="4590288"/>
            <a:ext cx="3200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5. Edge Quantization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94A3B8"/>
                </a:solidFill>
                <a:latin typeface="Segoe UI"/>
              </a:rPr>
              <a:t>AutoQVLA &amp; HyperVLA reducing VRAM to 30% on Jetson Orin.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CONSENSUS: </a:t>
            </a:r>
            <a:r>
              <a:rPr sz="1400">
                <a:solidFill>
                  <a:srgbClr val="F5F6F8"/>
                </a:solidFill>
                <a:latin typeface="Segoe UI"/>
              </a:rPr>
              <a:t>High-frequency continuous flow matching renders discrete tokenization architectures obsolete.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09 — TECHNICAL PRIORITIES AT THE FRONTIER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FAILURE GOVERNANCE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Canonical World-Model Failure Modes &amp; Mitigations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82296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FM1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356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Compounding Drift  |  </a:t>
            </a:r>
            <a:r>
              <a:rPr sz="1500" b="0" i="0">
                <a:solidFill>
                  <a:srgbClr val="94A3B8"/>
                </a:solidFill>
                <a:latin typeface="Segoe UI"/>
              </a:rPr>
              <a:t>Errors compound exponentially O(T * eps)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Mitigation: Receding Horizon Flow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15087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7090E"/>
                </a:solidFill>
                <a:latin typeface="Segoe UI"/>
              </a:rPr>
              <a:t>65% Solved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82296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FM2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Executability Gap  |  </a:t>
            </a:r>
            <a:r>
              <a:rPr sz="1500" b="0" i="0">
                <a:solidFill>
                  <a:srgbClr val="94A3B8"/>
                </a:solidFill>
                <a:latin typeface="Segoe UI"/>
              </a:rPr>
              <a:t>Coulomb friction contact violation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Mitigation: Physics-Informed Neural Losses (PINNs)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24231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7090E"/>
                </a:solidFill>
                <a:latin typeface="Segoe UI"/>
              </a:rPr>
              <a:t>55% Solved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82296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FM3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644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Hallucination  |  </a:t>
            </a:r>
            <a:r>
              <a:rPr sz="1500" b="0" i="0">
                <a:solidFill>
                  <a:srgbClr val="94A3B8"/>
                </a:solidFill>
                <a:latin typeface="Segoe UI"/>
              </a:rPr>
              <a:t>Forced codebook OOD mapping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Mitigation: Reconstruction Residual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33375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7090E"/>
                </a:solidFill>
                <a:latin typeface="Segoe UI"/>
              </a:rPr>
              <a:t>40% 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82296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FM4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1788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Action Marginalization  |  </a:t>
            </a:r>
            <a:r>
              <a:rPr sz="1500" b="0" i="0">
                <a:solidFill>
                  <a:srgbClr val="94A3B8"/>
                </a:solidFill>
                <a:latin typeface="Segoe UI"/>
              </a:rPr>
              <a:t>Policy ignores control inputs u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Mitigation: InfoNCE Action-Conditioned Contrast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42519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7090E"/>
                </a:solidFill>
                <a:latin typeface="Segoe UI"/>
              </a:rPr>
              <a:t>50% Active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82296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FM5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0932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Sim-to-Real Reality Gap  |  </a:t>
            </a:r>
            <a:r>
              <a:rPr sz="1500" b="0" i="0">
                <a:solidFill>
                  <a:srgbClr val="94A3B8"/>
                </a:solidFill>
                <a:latin typeface="Segoe UI"/>
              </a:rPr>
              <a:t>Sensor noise &amp; friction hysteresis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Mitigation: Real2Sim2Real (95% Syn + 5% Real)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51663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7090E"/>
                </a:solidFill>
                <a:latin typeface="Segoe UI"/>
              </a:rPr>
              <a:t>75% Standard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SYSTEMIC LESSON: </a:t>
            </a:r>
            <a:r>
              <a:rPr sz="1400">
                <a:solidFill>
                  <a:srgbClr val="F5F6F8"/>
                </a:solidFill>
                <a:latin typeface="Segoe UI"/>
              </a:rPr>
              <a:t>Unconstrained neural predictors hallucinate; PINN loss augmentation enforces real physics.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10 — WORLD-MODEL FAILURE MODES SCORECARD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THEORETICAL FOUNDATIONS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Pearl's Causal Hierarchy in Robotic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8000"/>
            </a:avLst>
          </a:prstGeom>
          <a:solidFill>
            <a:srgbClr val="1D3A6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RUNG III: COUNTERFACTUALS  —  </a:t>
            </a:r>
            <a:r>
              <a:rPr sz="1700" b="1" i="0">
                <a:solidFill>
                  <a:srgbClr val="3B82F6"/>
                </a:solidFill>
                <a:latin typeface="Segoe UI"/>
              </a:rPr>
              <a:t>P(Y_u | X', Y')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94A3B8"/>
                </a:solidFill>
                <a:latin typeface="Segoe UI"/>
              </a:rPr>
              <a:t>'What would have happened had joint 3 applied 5N less torque?'
Enables dynamic safety evaluation, collision avoidance, and formal verification dossiers.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1094415" cy="128016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905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RUNG II: INTERVENTIONS  —  </a:t>
            </a:r>
            <a:r>
              <a:rPr sz="1700" b="1" i="0">
                <a:solidFill>
                  <a:srgbClr val="3B82F6"/>
                </a:solidFill>
                <a:latin typeface="Segoe UI"/>
              </a:rPr>
              <a:t>P(Y | do(u))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94A3B8"/>
                </a:solidFill>
                <a:latin typeface="Segoe UI"/>
              </a:rPr>
              <a:t>'What will the robot trajectory be if joint torque tau is actuated?'
Governed by differential equations dx/dt = f(x, u, t). Requires active closed-loop motor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43400"/>
            <a:ext cx="11094415" cy="128016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905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RUNG I: STATISTICAL ASSOCIATIONS  —  </a:t>
            </a:r>
            <a:r>
              <a:rPr sz="1700" b="1" i="0">
                <a:solidFill>
                  <a:srgbClr val="3B82F6"/>
                </a:solidFill>
                <a:latin typeface="Segoe UI"/>
              </a:rPr>
              <a:t>P(Y | X)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94A3B8"/>
                </a:solidFill>
                <a:latin typeface="Segoe UI"/>
              </a:rPr>
              <a:t>'What tokens or pixels statistically co-occur in historical data?'
Standard LLM paradigm. Passive, open-loop, and incapable of continuous physical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FOUNDATIONAL LAW: </a:t>
            </a:r>
            <a:r>
              <a:rPr sz="1400">
                <a:solidFill>
                  <a:srgbClr val="F5F6F8"/>
                </a:solidFill>
                <a:latin typeface="Segoe UI"/>
              </a:rPr>
              <a:t>Robotics is an intervention and counterfactual science. Passive LLMs cannot cross this barrier.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11 — PEARL'S CAUSAL LADDER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3B82F6"/>
                </a:solidFill>
                <a:latin typeface="Segoe UI"/>
              </a:rP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5F6F8"/>
                </a:solidFill>
                <a:latin typeface="Segoe UI"/>
              </a:rPr>
              <a:t>Commercialization Models</a:t>
            </a:r>
          </a:p>
          <a:p>
            <a:pPr>
              <a:spcBef>
                <a:spcPts val="1600"/>
              </a:spcBef>
            </a:pPr>
            <a:r>
              <a:rPr sz="2000" b="0" i="0">
                <a:solidFill>
                  <a:srgbClr val="94A3B8"/>
                </a:solidFill>
                <a:latin typeface="Segoe UI"/>
              </a:rPr>
              <a:t>Deal Economics, Contract Structures, and the LTTS Services Playbook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COMMERCIAL REALITY: </a:t>
            </a:r>
            <a:r>
              <a:rPr sz="1400">
                <a:solidFill>
                  <a:srgbClr val="F5F6F8"/>
                </a:solidFill>
                <a:latin typeface="Segoe UI"/>
              </a:rPr>
              <a:t>Capturing high-margin enterprise budgets through specialized systems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12 — COMMERCIALIZATION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DEAL ECONOMICS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Commercial Deal Structures Across the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FMaaS / Policy APIs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CONTRACT SIZE:</a:t>
            </a:r>
          </a:p>
          <a:p>
            <a:r>
              <a:rPr sz="1900" b="1" i="0">
                <a:solidFill>
                  <a:srgbClr val="F5F6F8"/>
                </a:solidFill>
                <a:latin typeface="Segoe UI"/>
              </a:rPr>
              <a:t>$100k - $500k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MODEL:</a:t>
            </a:r>
          </a:p>
          <a:p>
            <a:r>
              <a:rPr sz="1400" b="0" i="0">
                <a:solidFill>
                  <a:srgbClr val="94A3B8"/>
                </a:solidFill>
                <a:latin typeface="Segoe UI"/>
              </a:rPr>
              <a:t>Base ACV + Overages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SALES VELOCITY: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3 - 6 Months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BUYER:</a:t>
            </a:r>
          </a:p>
          <a:p>
            <a:r>
              <a:rPr sz="1300" b="0" i="0">
                <a:solidFill>
                  <a:srgbClr val="94A3B8"/>
                </a:solidFill>
                <a:latin typeface="Segoe UI"/>
              </a:rPr>
              <a:t>VP Software / Head of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35224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Full-Stack OEM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CONTRACT SIZE:</a:t>
            </a:r>
          </a:p>
          <a:p>
            <a:r>
              <a:rPr sz="1900" b="1" i="0">
                <a:solidFill>
                  <a:srgbClr val="F5F6F8"/>
                </a:solidFill>
                <a:latin typeface="Segoe UI"/>
              </a:rPr>
              <a:t>$5k - $15k / mo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MODEL:</a:t>
            </a:r>
          </a:p>
          <a:p>
            <a:r>
              <a:rPr sz="1400" b="0" i="0">
                <a:solidFill>
                  <a:srgbClr val="94A3B8"/>
                </a:solidFill>
                <a:latin typeface="Segoe UI"/>
              </a:rPr>
              <a:t>Or $150k - $250k CapEx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SALES VELOCITY: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12 - 18 Months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BUYER:</a:t>
            </a:r>
          </a:p>
          <a:p>
            <a:r>
              <a:rPr sz="1300" b="0" i="0">
                <a:solidFill>
                  <a:srgbClr val="94A3B8"/>
                </a:solidFill>
                <a:latin typeface="Segoe UI"/>
              </a:rPr>
              <a:t>VP Global Supply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Simulation Tooling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CONTRACT SIZE:</a:t>
            </a:r>
          </a:p>
          <a:p>
            <a:r>
              <a:rPr sz="1900" b="1" i="0">
                <a:solidFill>
                  <a:srgbClr val="F5F6F8"/>
                </a:solidFill>
                <a:latin typeface="Segoe UI"/>
              </a:rPr>
              <a:t>$250k - $3.5M+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MODEL:</a:t>
            </a:r>
          </a:p>
          <a:p>
            <a:r>
              <a:rPr sz="1400" b="0" i="0">
                <a:solidFill>
                  <a:srgbClr val="94A3B8"/>
                </a:solidFill>
                <a:latin typeface="Segoe UI"/>
              </a:rPr>
              <a:t>Multi-Year SaaS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SALES VELOCITY: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6 - 9 Months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BUYER:</a:t>
            </a:r>
          </a:p>
          <a:p>
            <a:r>
              <a:rPr sz="1300" b="0" i="0">
                <a:solidFill>
                  <a:srgbClr val="94A3B8"/>
                </a:solidFill>
                <a:latin typeface="Segoe UI"/>
              </a:rPr>
              <a:t>VP ADAS / Autonomous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96912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34072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6F8"/>
                </a:solidFill>
                <a:latin typeface="Segoe UI"/>
              </a:rPr>
              <a:t>Safety Certification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CONTRACT SIZE:</a:t>
            </a:r>
          </a:p>
          <a:p>
            <a:r>
              <a:rPr sz="1900" b="1" i="0">
                <a:solidFill>
                  <a:srgbClr val="F5F6F8"/>
                </a:solidFill>
                <a:latin typeface="Segoe UI"/>
              </a:rPr>
              <a:t>$150k - $750k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MODEL:</a:t>
            </a:r>
          </a:p>
          <a:p>
            <a:r>
              <a:rPr sz="1400" b="0" i="0">
                <a:solidFill>
                  <a:srgbClr val="94A3B8"/>
                </a:solidFill>
                <a:latin typeface="Segoe UI"/>
              </a:rPr>
              <a:t>Per Plant Program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SALES VELOCITY: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6 - 12 Months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BUYER:</a:t>
            </a:r>
          </a:p>
          <a:p>
            <a:r>
              <a:rPr sz="1300" b="0" i="0">
                <a:solidFill>
                  <a:srgbClr val="94A3B8"/>
                </a:solidFill>
                <a:latin typeface="Segoe UI"/>
              </a:rPr>
              <a:t>Chief Safety Officer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46336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D3A6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83496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B82F6"/>
                </a:solidFill>
                <a:latin typeface="Segoe UI"/>
              </a:rPr>
              <a:t>Systems Integration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CONTRACT SIZE:</a:t>
            </a:r>
          </a:p>
          <a:p>
            <a:r>
              <a:rPr sz="1900" b="1" i="0">
                <a:solidFill>
                  <a:srgbClr val="F5F6F8"/>
                </a:solidFill>
                <a:latin typeface="Segoe UI"/>
              </a:rPr>
              <a:t>$1.0M - $10.0M+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MODEL:</a:t>
            </a:r>
          </a:p>
          <a:p>
            <a:r>
              <a:rPr sz="1400" b="0" i="0">
                <a:solidFill>
                  <a:srgbClr val="94A3B8"/>
                </a:solidFill>
                <a:latin typeface="Segoe UI"/>
              </a:rPr>
              <a:t>Turnkey + Milestones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SALES VELOCITY:</a:t>
            </a:r>
          </a:p>
          <a:p>
            <a:r>
              <a:rPr sz="1500" b="0" i="0">
                <a:solidFill>
                  <a:srgbClr val="F5F6F8"/>
                </a:solidFill>
                <a:latin typeface="Segoe UI"/>
              </a:rPr>
              <a:t>4 - 8 Months</a:t>
            </a:r>
          </a:p>
          <a:p>
            <a:pPr>
              <a:spcBef>
                <a:spcPts val="1000"/>
              </a:spcBef>
            </a:pPr>
            <a:r>
              <a:rPr sz="1100" b="1" i="0">
                <a:solidFill>
                  <a:srgbClr val="94A3B8"/>
                </a:solidFill>
                <a:latin typeface="Segoe UI"/>
              </a:rPr>
              <a:t>BUYER:</a:t>
            </a:r>
          </a:p>
          <a:p>
            <a:r>
              <a:rPr sz="1300" b="0" i="0">
                <a:solidFill>
                  <a:srgbClr val="94A3B8"/>
                </a:solidFill>
                <a:latin typeface="Segoe UI"/>
              </a:rPr>
              <a:t>CIO / VP Digital Mfg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OPPORTUNITY: </a:t>
            </a:r>
            <a:r>
              <a:rPr sz="1400">
                <a:solidFill>
                  <a:srgbClr val="F5F6F8"/>
                </a:solidFill>
                <a:latin typeface="Segoe UI"/>
              </a:rPr>
              <a:t>Systems integration commands the largest contract values ($1M-$10M+) with rapid enterprise sales velocity.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13 — COMMERCIAL DEAL ECONOMICS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SERVICE OFFERINGS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LTTS Physical AI Commercial Service Packages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90472"/>
            <a:ext cx="489204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Synthetic Data Factory (SD-FaaS)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3B82F6"/>
                </a:solidFill>
                <a:latin typeface="Segoe UI"/>
              </a:rPr>
              <a:t>$1.5M - $4.0M ACV  |  42% - 48% Gross Margin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Translating client CAD/PLM (Siemens NX, CATIA) into calibrated Isaac Sim digital twins with PINN losses.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3815" y="132588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22415" y="1490472"/>
            <a:ext cx="489204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Brownfield PLC-to-VLA Integration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3B82F6"/>
                </a:solidFill>
                <a:latin typeface="Segoe UI"/>
              </a:rPr>
              <a:t>$2.0M - $8.0M Turnkey  |  36% - 40% Gross Margin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Bridging neural policies with deterministic fieldbuses (Profinet, EtherCAT) via hardened RTOS safety watchdogs.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30752"/>
            <a:ext cx="489204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Independent Physical AI V&amp;V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3B82F6"/>
                </a:solidFill>
                <a:latin typeface="Segoe UI"/>
              </a:rPr>
              <a:t>$500k - $2.0M / Audit  |  50% - 55% Gross Margin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Stress-testing third-party neural controllers against ISO 13849 &amp; IEC 61508 formal functional safety dossiers.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3815" y="356616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3730752"/>
            <a:ext cx="489204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Managed Embodied MLOps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3B82F6"/>
                </a:solidFill>
                <a:latin typeface="Segoe UI"/>
              </a:rPr>
              <a:t>$1.0M - $3.0M ARR  |  45% - 50% Gross Margin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Continuous telemetry logging, edge drift monitoring, and automated synthetic retraining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PORTFOLIO FIT: </a:t>
            </a:r>
            <a:r>
              <a:rPr sz="1400">
                <a:solidFill>
                  <a:srgbClr val="F5F6F8"/>
                </a:solidFill>
                <a:latin typeface="Segoe UI"/>
              </a:rPr>
              <a:t>A balanced portfolio spanning high-margin IP software tooling and recurring enterprise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14 — LTTS COMMERCIAL OFFERINGS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3B82F6"/>
                </a:solidFill>
                <a:latin typeface="Segoe UI"/>
              </a:rP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5F6F8"/>
                </a:solidFill>
                <a:latin typeface="Segoe UI"/>
              </a:rPr>
              <a:t>Verified Use Cases &amp; Adoption</a:t>
            </a:r>
          </a:p>
          <a:p>
            <a:pPr>
              <a:spcBef>
                <a:spcPts val="1600"/>
              </a:spcBef>
            </a:pPr>
            <a:r>
              <a:rPr sz="2000" b="0" i="0">
                <a:solidFill>
                  <a:srgbClr val="94A3B8"/>
                </a:solidFill>
                <a:latin typeface="Segoe UI"/>
              </a:rPr>
              <a:t>Sector-by-Sector Production Deployments and Hype Deconstruction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AUDIT PRINCIPLE: </a:t>
            </a:r>
            <a:r>
              <a:rPr sz="1400">
                <a:solidFill>
                  <a:srgbClr val="F5F6F8"/>
                </a:solidFill>
                <a:latin typeface="Segoe UI"/>
              </a:rPr>
              <a:t>Documented production ROI across high-precision industrial manufacturing.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15 — VERIFIED USE CASES &amp; ADOPTION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PRODUCTION DEPLOYMENTS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Verified Production Deployments Across 5 Core Sectors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AUTOMOTIVE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BMW &amp; Ford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99.8% QA recall on EV welds
• 42% scrap reduction in cells
• $18M annual warranty reserve savings [Verified]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35224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AEROSPACE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Airbus &amp; Safran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Fastener hole defects &lt; 2 PPM
• 35% cut in drilling inspection
• 22-hour MRO turnaround time reduction [Verified]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SEMICONDUCTOR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TSMC Fab 18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2.1x gain in EUV yield prediction
• 18% reduction in litho downtime
• Zero unmodeled defect escapes [Verified]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96912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34072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LOGISTICS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Amazon &amp; DHL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750,000 active AMRs deployed
• 25% faster order processing
• 28% trailer unloading dock cost reduction [Verified]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46336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83496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HEAVY INDUSTRY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GE &amp; Caterpillar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30% reduction in gas turbine trips
• 250M autonomous haulage km
• Zero lost-time haul injuries [Verified]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IMPACT PATTERN: </a:t>
            </a:r>
            <a:r>
              <a:rPr sz="1400">
                <a:solidFill>
                  <a:srgbClr val="F5F6F8"/>
                </a:solidFill>
                <a:latin typeface="Segoe UI"/>
              </a:rPr>
              <a:t>Verified deployment ROI occurs where precision, scrap costs, and downtime penalties are extreme.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16 — VERIFIED DEPLOYMENTS ACROSS SECTORS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ADOPTION REALITY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Deconstructing Hype: Unverified Marketing vs. Physical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Humanoids in Automotive Final Assembly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EF4444"/>
                </a:solidFill>
                <a:latin typeface="Segoe UI"/>
              </a:rPr>
              <a:t>MARKETING CLAIM:</a:t>
            </a:r>
          </a:p>
          <a:p>
            <a:r>
              <a:rPr sz="1600" b="0" i="0">
                <a:solidFill>
                  <a:srgbClr val="94A3B8"/>
                </a:solidFill>
                <a:latin typeface="Segoe UI"/>
              </a:rPr>
              <a:t>CLAIM: Full human replacement on moving assembly lines in 12 months.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22C55E"/>
                </a:solidFill>
                <a:latin typeface="Segoe UI"/>
              </a:rPr>
              <a:t>PRODUCTION REALITY:</a:t>
            </a:r>
          </a:p>
          <a:p>
            <a:r>
              <a:rPr sz="1600" b="0" i="0">
                <a:solidFill>
                  <a:srgbClr val="F5F6F8"/>
                </a:solidFill>
                <a:latin typeface="Segoe UI"/>
              </a:rPr>
              <a:t>REALITY: Fails takt times (&lt;60s) and deformable wire harness tolerances (&lt;0.2mm). Lack of tactile slip feedback causes assembly failure [Verified].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5170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18050" y="155448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General-Purpose Construction Robotics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EF4444"/>
                </a:solidFill>
                <a:latin typeface="Segoe UI"/>
              </a:rPr>
              <a:t>MARKETING CLAIM:</a:t>
            </a:r>
          </a:p>
          <a:p>
            <a:r>
              <a:rPr sz="1600" b="0" i="0">
                <a:solidFill>
                  <a:srgbClr val="94A3B8"/>
                </a:solidFill>
                <a:latin typeface="Segoe UI"/>
              </a:rPr>
              <a:t>CLAIM: Fully autonomous bricklaying and framing in outdoor rain/mud.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22C55E"/>
                </a:solidFill>
                <a:latin typeface="Segoe UI"/>
              </a:rPr>
              <a:t>PRODUCTION REALITY:</a:t>
            </a:r>
          </a:p>
          <a:p>
            <a:r>
              <a:rPr sz="1600" b="0" i="0">
                <a:solidFill>
                  <a:srgbClr val="F5F6F8"/>
                </a:solidFill>
                <a:latin typeface="Segoe UI"/>
              </a:rPr>
              <a:t>REALITY: Dynamic outdoor soil mechanics violate visual odometry assumptions. Extreme weather breaks sim-to-real transfer [Verified].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1700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4580" y="155448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Autonomous Class III Surgery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EF4444"/>
                </a:solidFill>
                <a:latin typeface="Segoe UI"/>
              </a:rPr>
              <a:t>MARKETING CLAIM:</a:t>
            </a:r>
          </a:p>
          <a:p>
            <a:r>
              <a:rPr sz="1600" b="0" i="0">
                <a:solidFill>
                  <a:srgbClr val="94A3B8"/>
                </a:solidFill>
                <a:latin typeface="Segoe UI"/>
              </a:rPr>
              <a:t>CLAIM: Unsupervised robotic tissue resection and suturing without human oversight.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22C55E"/>
                </a:solidFill>
                <a:latin typeface="Segoe UI"/>
              </a:rPr>
              <a:t>PRODUCTION REALITY:</a:t>
            </a:r>
          </a:p>
          <a:p>
            <a:r>
              <a:rPr sz="1600" b="0" i="0">
                <a:solidFill>
                  <a:srgbClr val="F5F6F8"/>
                </a:solidFill>
                <a:latin typeface="Segoe UI"/>
              </a:rPr>
              <a:t>REALITY: FDA Class III mandates formal deterministic safety proofs that stochastic neural networks cannot provide today [Verified].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STRATEGIC IMPLICATION: </a:t>
            </a:r>
            <a:r>
              <a:rPr sz="1400">
                <a:solidFill>
                  <a:srgbClr val="F5F6F8"/>
                </a:solidFill>
                <a:latin typeface="Segoe UI"/>
              </a:rPr>
              <a:t>Unconstrained generalist tasks stall; structured high-precision automation succeeds.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17 — HYPE VS. PRODUCTION REALITY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D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3B82F6"/>
                </a:solidFill>
                <a:latin typeface="Segoe UI"/>
              </a:rP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5F6F8"/>
                </a:solidFill>
                <a:latin typeface="Segoe UI"/>
              </a:rPr>
              <a:t>Competitive Landscape</a:t>
            </a:r>
          </a:p>
          <a:p>
            <a:pPr>
              <a:spcBef>
                <a:spcPts val="1600"/>
              </a:spcBef>
            </a:pPr>
            <a:r>
              <a:rPr sz="2000" b="0" i="0">
                <a:solidFill>
                  <a:srgbClr val="94A3B8"/>
                </a:solidFill>
                <a:latin typeface="Segoe UI"/>
              </a:rPr>
              <a:t>Multi-Layer Industry Stack and High-Value Underserved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MARKET DEFICIT: </a:t>
            </a:r>
            <a:r>
              <a:rPr sz="1400">
                <a:solidFill>
                  <a:srgbClr val="F5F6F8"/>
                </a:solidFill>
                <a:latin typeface="Segoe UI"/>
              </a:rPr>
              <a:t>Software pure-plays lack plant floor access; systems integrators own customer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18 — COMPETITIVE LANDSCAPE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INDUSTRY STRUCTURE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Multi-Layer Competitive Landscape across Physical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35608"/>
            <a:ext cx="1054577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Layer 1: Foundation Models  —  </a:t>
            </a:r>
            <a:r>
              <a:rPr sz="1600" b="0" i="0">
                <a:solidFill>
                  <a:srgbClr val="F5F6F8"/>
                </a:solidFill>
                <a:latin typeface="Segoe UI"/>
              </a:rPr>
              <a:t>Physical Intelligence, Skild AI, DeepMind</a:t>
            </a:r>
          </a:p>
          <a:p>
            <a:r>
              <a:rPr sz="1500" b="0" i="0">
                <a:solidFill>
                  <a:srgbClr val="94A3B8"/>
                </a:solidFill>
                <a:latin typeface="Segoe UI"/>
              </a:rPr>
              <a:t>Moat: Frontier algorithms; zero legacy plant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50008"/>
            <a:ext cx="1054577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Layer 2: Industrial Automation  —  </a:t>
            </a:r>
            <a:r>
              <a:rPr sz="1600" b="0" i="0">
                <a:solidFill>
                  <a:srgbClr val="F5F6F8"/>
                </a:solidFill>
                <a:latin typeface="Segoe UI"/>
              </a:rPr>
              <a:t>Siemens, Rockwell Automation, ABB</a:t>
            </a:r>
          </a:p>
          <a:p>
            <a:r>
              <a:rPr sz="1500" b="0" i="0">
                <a:solidFill>
                  <a:srgbClr val="94A3B8"/>
                </a:solidFill>
                <a:latin typeface="Segoe UI"/>
              </a:rPr>
              <a:t>Moat: Own the factory floor; slow software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64408"/>
            <a:ext cx="1054577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Layer 3: Simulation Platforms  —  </a:t>
            </a:r>
            <a:r>
              <a:rPr sz="1600" b="0" i="0">
                <a:solidFill>
                  <a:srgbClr val="F5F6F8"/>
                </a:solidFill>
                <a:latin typeface="Segoe UI"/>
              </a:rPr>
              <a:t>NVIDIA Omniverse, Applied Intuition, Scale AI</a:t>
            </a:r>
          </a:p>
          <a:p>
            <a:r>
              <a:rPr sz="1500" b="0" i="0">
                <a:solidFill>
                  <a:srgbClr val="94A3B8"/>
                </a:solidFill>
                <a:latin typeface="Segoe UI"/>
              </a:rPr>
              <a:t>Moat: High switching costs; platform moats.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D3A6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4577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B82F6"/>
                </a:solidFill>
                <a:latin typeface="Segoe UI"/>
              </a:rPr>
              <a:t>Layer 4: ER&amp;D Systems Integration  —  </a:t>
            </a:r>
            <a:r>
              <a:rPr sz="1600" b="0" i="0">
                <a:solidFill>
                  <a:srgbClr val="F5F6F8"/>
                </a:solidFill>
                <a:latin typeface="Segoe UI"/>
              </a:rPr>
              <a:t>LTTS (Target Moat), KPIT, Cyient</a:t>
            </a:r>
          </a:p>
          <a:p>
            <a:r>
              <a:rPr sz="1500" b="0" i="0">
                <a:solidFill>
                  <a:srgbClr val="94A3B8"/>
                </a:solidFill>
                <a:latin typeface="Segoe UI"/>
              </a:rPr>
              <a:t>Moat: Certified bridge: connect frontier models to PLCs.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93208"/>
            <a:ext cx="1054577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5F6F8"/>
                </a:solidFill>
                <a:latin typeface="Segoe UI"/>
              </a:rPr>
              <a:t>Layer 5: Statutory Certification  —  </a:t>
            </a:r>
            <a:r>
              <a:rPr sz="1600" b="0" i="0">
                <a:solidFill>
                  <a:srgbClr val="F5F6F8"/>
                </a:solidFill>
                <a:latin typeface="Segoe UI"/>
              </a:rPr>
              <a:t>TÜV SÜD, UL Solutions, Credo AI</a:t>
            </a:r>
          </a:p>
          <a:p>
            <a:r>
              <a:rPr sz="1500" b="0" i="0">
                <a:solidFill>
                  <a:srgbClr val="94A3B8"/>
                </a:solidFill>
                <a:latin typeface="Segoe UI"/>
              </a:rPr>
              <a:t>Moat: Mandatory regulatory tollgates for factory insurance.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POSITIONING: </a:t>
            </a:r>
            <a:r>
              <a:rPr sz="1400">
                <a:solidFill>
                  <a:srgbClr val="F5F6F8"/>
                </a:solidFill>
                <a:latin typeface="Segoe UI"/>
              </a:rPr>
              <a:t>LTTS occupies the indispensable Layer 4 integration position connecting algorithmic brains with industrial muscle.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19 — LAYERED COMPETITIVE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MARKET OPPORTUNITIES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Three High-Value Underserved Market White Spaces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Gap 1: Neural Safety Compiler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EF4444"/>
                </a:solidFill>
                <a:latin typeface="Segoe UI"/>
              </a:rPr>
              <a:t>MARKET DEFICIT:</a:t>
            </a:r>
          </a:p>
          <a:p>
            <a:r>
              <a:rPr sz="1600" b="0" i="0">
                <a:solidFill>
                  <a:srgbClr val="94A3B8"/>
                </a:solidFill>
                <a:latin typeface="Segoe UI"/>
              </a:rPr>
              <a:t>THE DEFICIT: Foundation models are black boxes; certifiers require deterministic bounds. No tool today converts 7B VLAs into formal proof certificates.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3B82F6"/>
                </a:solidFill>
                <a:latin typeface="Segoe UI"/>
              </a:rPr>
              <a:t>LTTS ENTRY POINT:</a:t>
            </a:r>
          </a:p>
          <a:p>
            <a:r>
              <a:rPr sz="1600" b="0" i="0">
                <a:solidFill>
                  <a:srgbClr val="F5F6F8"/>
                </a:solidFill>
                <a:latin typeface="Segoe UI"/>
              </a:rPr>
              <a:t>LTTS SOLUTION: Build the industry's first Neural-to-IEC-61508 V&amp;V compiler, extracting Control Barrier Functions for automated TÜV dossiers.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5170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18050" y="155448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Gap 2: Legacy CAD-to-Physics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EF4444"/>
                </a:solidFill>
                <a:latin typeface="Segoe UI"/>
              </a:rPr>
              <a:t>MARKET DEFICIT:</a:t>
            </a:r>
          </a:p>
          <a:p>
            <a:r>
              <a:rPr sz="1600" b="0" i="0">
                <a:solidFill>
                  <a:srgbClr val="94A3B8"/>
                </a:solidFill>
                <a:latin typeface="Segoe UI"/>
              </a:rPr>
              <a:t>THE DEFICIT: Clients possess petabytes of unmeshed, dirty CAD/PLM data lacking friction and mass parameters, blocking Isaac Sim digital twin setup.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3B82F6"/>
                </a:solidFill>
                <a:latin typeface="Segoe UI"/>
              </a:rPr>
              <a:t>LTTS ENTRY POINT:</a:t>
            </a:r>
          </a:p>
          <a:p>
            <a:r>
              <a:rPr sz="1600" b="0" i="0">
                <a:solidFill>
                  <a:srgbClr val="F5F6F8"/>
                </a:solidFill>
                <a:latin typeface="Segoe UI"/>
              </a:rPr>
              <a:t>LTTS SOLUTION: Deploy geometry-parsing AI pipelines converting raw PLM assemblies into verified simulation twins in hours instead of months.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1700" y="13258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4580" y="155448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Gap 3: 50Hz Real-Time Middleware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EF4444"/>
                </a:solidFill>
                <a:latin typeface="Segoe UI"/>
              </a:rPr>
              <a:t>MARKET DEFICIT:</a:t>
            </a:r>
          </a:p>
          <a:p>
            <a:r>
              <a:rPr sz="1600" b="0" i="0">
                <a:solidFill>
                  <a:srgbClr val="94A3B8"/>
                </a:solidFill>
                <a:latin typeface="Segoe UI"/>
              </a:rPr>
              <a:t>THE DEFICIT: Large VLAs on edge Jetson hardware suffer from 80-250ms latency jitter, causing severe robot arm shudder and safety halts.</a:t>
            </a:r>
          </a:p>
          <a:p>
            <a:pPr>
              <a:spcBef>
                <a:spcPts val="1400"/>
              </a:spcBef>
            </a:pPr>
            <a:r>
              <a:rPr sz="1100" b="1" i="0">
                <a:solidFill>
                  <a:srgbClr val="3B82F6"/>
                </a:solidFill>
                <a:latin typeface="Segoe UI"/>
              </a:rPr>
              <a:t>LTTS ENTRY POINT:</a:t>
            </a:r>
          </a:p>
          <a:p>
            <a:r>
              <a:rPr sz="1600" b="0" i="0">
                <a:solidFill>
                  <a:srgbClr val="F5F6F8"/>
                </a:solidFill>
                <a:latin typeface="Segoe UI"/>
              </a:rPr>
              <a:t>LTTS SOLUTION: Package channel-aware quantization (AutoQVLA) and action chunking into a hardened industrial edge middleware gateway.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MOAT DEFENSE: </a:t>
            </a:r>
            <a:r>
              <a:rPr sz="1400">
                <a:solidFill>
                  <a:srgbClr val="F5F6F8"/>
                </a:solidFill>
                <a:latin typeface="Segoe UI"/>
              </a:rPr>
              <a:t>Solving these three engineering bottlenecks creates an unassailable commercial moat against software pure-plays.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20 — HIGH-VALUE UNDERSERVED GAPS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DOMAIN MOAT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The Domain Engineering Moat: Kinematic Singularities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00200"/>
            <a:ext cx="7772400" cy="71930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2971800"/>
            <a:ext cx="11094415" cy="274320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F6F8"/>
                </a:solidFill>
                <a:latin typeface="Segoe UI"/>
              </a:rPr>
              <a:t>What This Means Operationally on the Factory Floor: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When Yoshikawa manipulability det(J*J^T) -&gt; 0, raw Cartesian VLA neural commands demand infinite joint speeds, destroying mechanical gearboxes.
• Damped Least-Squares (DLS) mathematically bounds joint velocities while guaranteeing trajectory safety.
• Software pure-plays lack this robotics mechanics depth; mechatronics systems integrators provide the essential safety envelope.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CONTROL-SYSTEMS RIGOR: </a:t>
            </a:r>
            <a:r>
              <a:rPr sz="1400">
                <a:solidFill>
                  <a:srgbClr val="F5F6F8"/>
                </a:solidFill>
                <a:latin typeface="Segoe UI"/>
              </a:rPr>
              <a:t>Kinematic invariants and singular perturbation mechanics protect hardware from ungrounded neural outputs.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21 — INDUSTRIAL AI TO PHYSICAL AI BRIDGE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DATA FLYWHEEL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The LTTS Closed-Loop Operational Data Flywheel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STAGE 1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Telemetry Ingestion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Logging joint torques (tau), currents (I), and deflections at &gt;= 1kHz on deterministic fieldbuses.</a:t>
            </a:r>
          </a:p>
          <a:p>
            <a:pPr>
              <a:spcBef>
                <a:spcPts val="1400"/>
              </a:spcBef>
            </a:pPr>
            <a:r>
              <a:rPr sz="1300" b="0" i="0">
                <a:solidFill>
                  <a:srgbClr val="3B82F6"/>
                </a:solidFill>
                <a:latin typeface="Segoe UI"/>
              </a:rPr>
              <a:t>TOOLCHAIN:
Modbus / RTOS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35224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STAGE 2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PINN Calibration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Physics-Informed Neural Networks inverting telemetry to calibrate friction (mu) and backlash (b).</a:t>
            </a:r>
          </a:p>
          <a:p>
            <a:pPr>
              <a:spcBef>
                <a:spcPts val="1400"/>
              </a:spcBef>
            </a:pPr>
            <a:r>
              <a:rPr sz="1300" b="0" i="0">
                <a:solidFill>
                  <a:srgbClr val="3B82F6"/>
                </a:solidFill>
                <a:latin typeface="Segoe UI"/>
              </a:rPr>
              <a:t>TOOLCHAIN:
PyTorch Physics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STAGE 3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Synthetic Foundry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Simulating 10^6 variations in Isaac Sim enforced by physics loss: L_pinn = ||d_t u + N[u] - f||^2.</a:t>
            </a:r>
          </a:p>
          <a:p>
            <a:pPr>
              <a:spcBef>
                <a:spcPts val="1400"/>
              </a:spcBef>
            </a:pPr>
            <a:r>
              <a:rPr sz="1300" b="0" i="0">
                <a:solidFill>
                  <a:srgbClr val="3B82F6"/>
                </a:solidFill>
                <a:latin typeface="Segoe UI"/>
              </a:rPr>
              <a:t>TOOLCHAIN:
Isaac Sim 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96912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34072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STAGE 4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Edge Execution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Deploying quantized VLA policies with real-time Control Barrier Function (CBF) safety filters.</a:t>
            </a:r>
          </a:p>
          <a:p>
            <a:pPr>
              <a:spcBef>
                <a:spcPts val="1400"/>
              </a:spcBef>
            </a:pPr>
            <a:r>
              <a:rPr sz="1300" b="0" i="0">
                <a:solidFill>
                  <a:srgbClr val="3B82F6"/>
                </a:solidFill>
                <a:latin typeface="Segoe UI"/>
              </a:rPr>
              <a:t>TOOLCHAIN:
Jetson AGX Orin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46336" y="1325880"/>
            <a:ext cx="2084831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83496" y="1508760"/>
            <a:ext cx="181051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STAGE 5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F5F6F8"/>
                </a:solidFill>
                <a:latin typeface="Segoe UI"/>
              </a:rPr>
              <a:t>OOD Monitoring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Flagging reconstruction residuals (E_recon &gt; tau) to trigger automated synthetic re-simulation.</a:t>
            </a:r>
          </a:p>
          <a:p>
            <a:pPr>
              <a:spcBef>
                <a:spcPts val="1400"/>
              </a:spcBef>
            </a:pPr>
            <a:r>
              <a:rPr sz="1300" b="0" i="0">
                <a:solidFill>
                  <a:srgbClr val="3B82F6"/>
                </a:solidFill>
                <a:latin typeface="Segoe UI"/>
              </a:rPr>
              <a:t>TOOLCHAIN:
Drift Monitor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FLYWHEEL EFFECT: </a:t>
            </a:r>
            <a:r>
              <a:rPr sz="1400">
                <a:solidFill>
                  <a:srgbClr val="F5F6F8"/>
                </a:solidFill>
                <a:latin typeface="Segoe UI"/>
              </a:rPr>
              <a:t>A self-healing telemetry loop converting factory edge anomalies into synthetic training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22 — CLOSED-LOOP DATA FLYWHEEL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STRATEGIC ROADMAP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LTTS Strategic Investment Roadmap (2026–2028)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633472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PRIORITY 1: Q1 2027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F5F6F8"/>
                </a:solidFill>
                <a:latin typeface="Segoe UI"/>
              </a:rPr>
              <a:t>$3.5M Investment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F5F6F8"/>
                </a:solidFill>
                <a:latin typeface="Segoe UI"/>
              </a:rPr>
              <a:t>Physical AI V&amp;V Practice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Launch dedicated safety testing lab. Productize runtime monitors (E_recon) for ISO 13849 compliance.
36-Mo Return: $25M+ audit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325880"/>
            <a:ext cx="2633472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9584" y="150876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PRIORITY 2: Q2 2027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F5F6F8"/>
                </a:solidFill>
                <a:latin typeface="Segoe UI"/>
              </a:rPr>
              <a:t>$1.5M Investment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F5F6F8"/>
                </a:solidFill>
                <a:latin typeface="Segoe UI"/>
              </a:rPr>
              <a:t>Tripartite PLC Alliances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Sign formal co-selling partnerships with Siemens, Rockwell, and Physical Intelligence as certified bridge integrator.
36-Mo Return: $50M+ SI deals.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25880"/>
            <a:ext cx="2633472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50876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PRIORITY 3: Q3 2027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F5F6F8"/>
                </a:solidFill>
                <a:latin typeface="Segoe UI"/>
              </a:rPr>
              <a:t>$6.0M Investment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F5F6F8"/>
                </a:solidFill>
                <a:latin typeface="Segoe UI"/>
              </a:rPr>
              <a:t>Synthetic Data Factory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Deploy Isaac Sim &amp; Siemens Tecnomatix SD-FaaS engine converting client CAD/PLM into digital twins.
36-Mo Return: $35M+ recurring SaaS.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7696" y="1325880"/>
            <a:ext cx="2633472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62288" y="150876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PRIORITY 4: 2027-2028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F5F6F8"/>
                </a:solidFill>
                <a:latin typeface="Segoe UI"/>
              </a:rPr>
              <a:t>$3.0M Investment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F5F6F8"/>
                </a:solidFill>
                <a:latin typeface="Segoe UI"/>
              </a:rPr>
              <a:t>Physical AI Academy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Reskill 250+ mechatronics staff in Isaac Lab, ROS2, and edge quantization. Recruit 20 PhD researchers.
36-Mo Return: 300-person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CAPITAL EFFICIENCY: </a:t>
            </a:r>
            <a:r>
              <a:rPr sz="1400">
                <a:solidFill>
                  <a:srgbClr val="F5F6F8"/>
                </a:solidFill>
                <a:latin typeface="Segoe UI"/>
              </a:rPr>
              <a:t>A $14.0M phased commitment captures a market-leading position across an $11.5B global TAM.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23 — STRATEGIC INVESTMENT ROADMAP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FUTURE OUTLOOK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3–5 Year Industry Forecast &amp; Critical Uncertainties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GROUNDED STRUCTURAL FORECAST (2026–2030)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Hardware Commoditization (2027-28): Arms and bipedal bases drop 60% in unit cost; value shifts entirely to software.
• Foundation Model Consolidation: 2-3 global foundation models win (NVIDIA, DeepMind, PI). In-house model training is a capital trap.
• Integration Expansion: Bespoke plant tooling expands integration services TAM to $11.5B by 2029 [Estimated].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3815" y="132588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5087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CRITICAL SENSITIVITY SCENARIOS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• Safety Regulations (OSHA/EU): Mandating physical cages shifts demand to fixed cells; certifying virtual zones booms SI demand.
• Geopolitical Decoupling: US-China robotics export bans force LTTS to maintain dual-stack integration capabilities.
• Sim-to-Real Velocity: Differentiable physics speed directly determines Synthetic Data Factory margins (targeting &gt;45%).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CONCLUSION: </a:t>
            </a:r>
            <a:r>
              <a:rPr sz="1400">
                <a:solidFill>
                  <a:srgbClr val="F5F6F8"/>
                </a:solidFill>
                <a:latin typeface="Segoe UI"/>
              </a:rPr>
              <a:t>Hardware commoditization makes systems integration and verification the primary value capture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24 — 3-5 YEAR INDUSTRY FORECAST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CLOSING &amp; NEXT STEPS  |  </a:t>
            </a:r>
            <a:r>
              <a:rPr sz="3200" b="1">
                <a:solidFill>
                  <a:srgbClr val="F5F6F8"/>
                </a:solidFill>
                <a:latin typeface="Segoe UI"/>
              </a:rPr>
              <a:t>The Executive Decision &amp; Path Forward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094415" cy="1508760"/>
          </a:xfrm>
          <a:prstGeom prst="roundRect">
            <a:avLst>
              <a:gd name="adj" fmla="val 8000"/>
            </a:avLst>
          </a:prstGeom>
          <a:solidFill>
            <a:srgbClr val="1D3A6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F6F8"/>
                </a:solidFill>
                <a:latin typeface="Segoe UI"/>
              </a:rPr>
              <a:t>$110M+ PRACTICE PIPELINE</a:t>
            </a:r>
          </a:p>
          <a:p>
            <a:pPr algn="ctr"/>
            <a:r>
              <a:rPr sz="1500" b="1" i="0">
                <a:solidFill>
                  <a:srgbClr val="3B82F6"/>
                </a:solidFill>
                <a:latin typeface="Segoe UI"/>
              </a:rPr>
              <a:t>Projected 36-Month Cumulative Practice Revenue on $14.0M Phased Commitment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718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154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1. Approve Capital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3B82F6"/>
                </a:solidFill>
                <a:latin typeface="Segoe UI"/>
              </a:rPr>
              <a:t>$14.0M Phased Budget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Authorize Q1 2027 initial tranche of $3.5M to launch accredited V&amp;V lab and initial testing cells.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5170" y="29718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8050" y="3108960"/>
            <a:ext cx="3154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2. Ratify Alliances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3B82F6"/>
                </a:solidFill>
                <a:latin typeface="Segoe UI"/>
              </a:rPr>
              <a:t>Incumbent Ecosystem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Formalize co-selling agreements with Siemens, Rockwell, and Physical Intelligence as certified bridge.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9718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131E32"/>
          </a:solidFill>
          <a:ln w="12700"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4580" y="3108960"/>
            <a:ext cx="3154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5F6F8"/>
                </a:solidFill>
                <a:latin typeface="Segoe UI"/>
              </a:rPr>
              <a:t>3. Launch Academy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3B82F6"/>
                </a:solidFill>
                <a:latin typeface="Segoe UI"/>
              </a:rPr>
              <a:t>Mechatronics Reskilling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94A3B8"/>
                </a:solidFill>
                <a:latin typeface="Segoe UI"/>
              </a:rPr>
              <a:t>Upskill 250+ mechatronics engineers into certified Physical AI deployment practice leaders.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89320"/>
            <a:ext cx="11094415" cy="438912"/>
          </a:xfrm>
          <a:prstGeom prst="roundRect">
            <a:avLst>
              <a:gd name="adj" fmla="val 25000"/>
            </a:avLst>
          </a:prstGeom>
          <a:solidFill>
            <a:srgbClr val="131E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TAKEAWAY: CLOSING CALL TO ACTION: </a:t>
            </a:r>
            <a:r>
              <a:rPr sz="1400">
                <a:solidFill>
                  <a:srgbClr val="F5F6F8"/>
                </a:solidFill>
                <a:latin typeface="Segoe UI"/>
              </a:rPr>
              <a:t>The question is not whether industry deploys Physical AI — it is who integrates and certifies it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25 — THE EXECUTIVE DECISION &amp; ACTION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